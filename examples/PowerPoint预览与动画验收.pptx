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charts/chart1.xml" ContentType="application/vnd.openxmlformats-officedocument.drawingml.chart+xml"/>
</Types>
</file>

<file path=_rels/.rels><?xml version="1.0"?><Relationships xmlns="http://schemas.openxmlformats.org/package/2006/relationships"><Relationship Id="document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"/>
  </p:sldMasterIdLst>
  <p:sldIdLst>
    <p:sldId id="256" r:id="slide1"/>
    <p:sldId id="257" r:id="slide2"/>
    <p:sldId id="258" r:id="slide3"/>
    <p:sldId id="259" r:id="slide4"/>
    <p:sldId id="260" r:id="slide5"/>
    <p:sldId id="261" r:id="slide6"/>
    <p:sldId id="262" r:id="slide7"/>
    <p:sldId id="263" r:id="slide8"/>
    <p:sldId id="264" r:id="slide9"/>
  </p:sldIdLst>
  <p:sldSz cx="9144000" cy="5143500"/>
  <p:notesSz cx="6858000" cy="9144000"/>
</p:presentation>
</file>

<file path=ppt/_rels/presentation.xml.rels><?xml version="1.0"?><Relationships xmlns="http://schemas.openxmlformats.org/package/2006/relationships"><Relationship Id="master" Type="http://schemas.openxmlformats.org/officeDocument/2006/relationships/slideMaster" Target="slideMasters/slideMaster1.xml"/><Relationship Id="slide1" Type="http://schemas.openxmlformats.org/officeDocument/2006/relationships/slide" Target="slides/slide1.xml"/><Relationship Id="slide2" Type="http://schemas.openxmlformats.org/officeDocument/2006/relationships/slide" Target="slides/slide2.xml"/><Relationship Id="slide3" Type="http://schemas.openxmlformats.org/officeDocument/2006/relationships/slide" Target="slides/slide3.xml"/><Relationship Id="slide4" Type="http://schemas.openxmlformats.org/officeDocument/2006/relationships/slide" Target="slides/slide4.xml"/><Relationship Id="slide5" Type="http://schemas.openxmlformats.org/officeDocument/2006/relationships/slide" Target="slides/slide5.xml"/><Relationship Id="slide6" Type="http://schemas.openxmlformats.org/officeDocument/2006/relationships/slide" Target="slides/slide6.xml"/><Relationship Id="slide7" Type="http://schemas.openxmlformats.org/officeDocument/2006/relationships/slide" Target="slides/slide7.xml"/><Relationship Id="slide8" Type="http://schemas.openxmlformats.org/officeDocument/2006/relationships/slide" Target="slides/slide8.xml"/><Relationship Id="slide9" Type="http://schemas.openxmlformats.org/officeDocument/2006/relationships/slide" Target="slides/slid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grouping val="clustered"/>
        <c:ser>
          <c:idx val="0"/>
          <c:order val="0"/>
          <c:tx>
            <c:v>预览数据</c:v>
          </c:tx>
          <c:spPr>
            <a:solidFill>
              <a:srgbClr val="2563EB"/>
            </a:solidFill>
          </c:spPr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</c:formatCode>
              <c:ptCount val="3"/>
              <c:pt idx="0">
                <c:v>20</c:v>
              </c:pt>
              <c:pt idx="1">
                <c:v>40</c:v>
              </c:pt>
              <c:pt idx="2">
                <c:v>30</c:v>
              </c:pt>
            </c:numLit>
          </c:val>
        </c:ser>
        <c:gapWidth val="100"/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majorGridlines/>
        <c:crossAx val="1"/>
        <c:crosses val="autoZero"/>
      </c:valAx>
    </c:plotArea>
    <c:plotVisOnly val="1"/>
  </c:chart>
</c:chartSpace>
</file>

<file path=ppt/slideLayouts/_rels/slideLayout1.xml.rels><?xml version="1.0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layout"/>
  </p:sldLayoutIdLst>
</p:sldMaster>
</file>

<file path=ppt/slides/_rels/slide1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3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4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5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6.xml.rels><?xml version="1.0"?><Relationships xmlns="http://schemas.openxmlformats.org/package/2006/relationships"><Relationship Id="layout" Type="http://schemas.openxmlformats.org/officeDocument/2006/relationships/slideLayout" Target="../slideLayouts/slideLayout1.xml"/><Relationship Id="image" Type="http://schemas.openxmlformats.org/officeDocument/2006/relationships/image" Target="../media/preview.png"/><Relationship Id="chart" Type="http://schemas.openxmlformats.org/officeDocument/2006/relationships/chart" Target="../charts/chart1.xml"/></Relationships>
</file>

<file path=ppt/slides/_rels/slide7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8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9.xml.rels><?xml version="1.0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perHigh 预览与动画验收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SuperHigh 预览与动画验收</a:t>
            </a:r>
          </a:p>
        </p:txBody>
      </p:sp>
      <p:sp>
        <p:nvSpPr>
          <p:cNvPr id="3" name="检查中文、图片、图表与动画；点击“下一步”或按空格逐步播放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检查中文、图片、图表与动画；点击“下一步”或按空格逐步播放。</a:t>
            </a:r>
          </a:p>
        </p:txBody>
      </p:sp>
      <p:sp>
        <p:nvSpPr>
          <p:cNvPr id="4" name="这份文件由源码脚本生成 无需 Office、WPS 或 LibreOffice"/>
          <p:cNvSpPr txBox="1"/>
          <p:nvPr/>
        </p:nvSpPr>
        <p:spPr>
          <a:xfrm>
            <a:off x="533400" y="2000250"/>
            <a:ext cx="8077200" cy="104775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000" b="0">
                <a:solidFill>
                  <a:srgbClr val="172554"/>
                </a:solidFill>
                <a:latin typeface="Microsoft YaHei"/>
                <a:ea typeface="Microsoft YaHei"/>
              </a:rPr>
              <a:t>这份文件由源码脚本生成</a:t>
            </a:r>
          </a:p>
          <a:p>
            <a:r>
              <a:rPr lang="zh-CN" sz="3000" b="0">
                <a:solidFill>
                  <a:srgbClr val="172554"/>
                </a:solidFill>
                <a:latin typeface="Microsoft YaHei"/>
                <a:ea typeface="Microsoft YaHei"/>
              </a:rPr>
              <a:t>无需 Office、WPS 或 LibreOffice</a:t>
            </a:r>
          </a:p>
        </p:txBody>
      </p:sp>
      <p:sp>
        <p:nvSpPr>
          <p:cNvPr id="5" name="每页顶部说明预期行为；关闭“动画”应显示全部静态内容。"/>
          <p:cNvSpPr txBox="1"/>
          <p:nvPr/>
        </p:nvSpPr>
        <p:spPr>
          <a:xfrm>
            <a:off x="533400" y="3714750"/>
            <a:ext cx="8077200" cy="6477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800" b="0">
                <a:solidFill>
                  <a:srgbClr val="172554"/>
                </a:solidFill>
                <a:latin typeface="Microsoft YaHei"/>
                <a:ea typeface="Microsoft YaHei"/>
              </a:rPr>
              <a:t>每页顶部说明预期行为；关闭“动画”应显示全部静态内容。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1 · 四种点击入场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01 · 四种点击入场</a:t>
            </a:r>
          </a:p>
        </p:txBody>
      </p:sp>
      <p:sp>
        <p:nvSpPr>
          <p:cNvPr id="3" name="预期：每次点击分别出现一个对象，顺序为淡入、飞入、擦除、缩放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预期：每次点击分别出现一个对象，顺序为淡入、飞入、擦除、缩放。</a:t>
            </a:r>
          </a:p>
        </p:txBody>
      </p:sp>
      <p:sp>
        <p:nvSpPr>
          <p:cNvPr id="4" name="淡入"/>
          <p:cNvSpPr txBox="1"/>
          <p:nvPr/>
        </p:nvSpPr>
        <p:spPr>
          <a:xfrm>
            <a:off x="533400" y="2305050"/>
            <a:ext cx="1752600" cy="1066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淡入</a:t>
            </a:r>
          </a:p>
        </p:txBody>
      </p:sp>
      <p:sp>
        <p:nvSpPr>
          <p:cNvPr id="5" name="左侧飞入"/>
          <p:cNvSpPr txBox="1"/>
          <p:nvPr/>
        </p:nvSpPr>
        <p:spPr>
          <a:xfrm>
            <a:off x="2667000" y="2305050"/>
            <a:ext cx="1752600" cy="1066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左侧飞入</a:t>
            </a:r>
          </a:p>
        </p:txBody>
      </p:sp>
      <p:sp>
        <p:nvSpPr>
          <p:cNvPr id="6" name="向右擦除"/>
          <p:cNvSpPr txBox="1"/>
          <p:nvPr/>
        </p:nvSpPr>
        <p:spPr>
          <a:xfrm>
            <a:off x="4800600" y="2305050"/>
            <a:ext cx="1752600" cy="1066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向右擦除</a:t>
            </a:r>
          </a:p>
        </p:txBody>
      </p:sp>
      <p:sp>
        <p:nvSpPr>
          <p:cNvPr id="7" name="缩放入场"/>
          <p:cNvSpPr txBox="1"/>
          <p:nvPr/>
        </p:nvSpPr>
        <p:spPr>
          <a:xfrm>
            <a:off x="6934200" y="2305050"/>
            <a:ext cx="1752600" cy="106680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缩放入场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10" presetID="10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8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12" presetID="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anim calcmode="lin" valueType="num">
                                <p:cBhvr>
                                  <p:cTn id="13" dur="800" fill="hold"/>
                                  <p:tgtEl>
                                    <p:spTgt spid="5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1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14" presetID="22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wipe(right)">
                                <p:cBhvr>
                                  <p:cTn id="15" dur="8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16" presetID="23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17" dur="800" fill="hold"/>
                                  <p:tgtEl>
                                    <p:spTgt spid="7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2 · 同时与之后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02 · 同时与之后</a:t>
            </a:r>
          </a:p>
        </p:txBody>
      </p:sp>
      <p:sp>
        <p:nvSpPr>
          <p:cNvPr id="3" name="预期：只点一次。蓝色先淡入，绿色延迟 0.15 秒同时开始，橙色随后出现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预期：只点一次。蓝色先淡入，绿色延迟 0.15 秒同时开始，橙色随后出现。</a:t>
            </a:r>
          </a:p>
        </p:txBody>
      </p:sp>
      <p:sp>
        <p:nvSpPr>
          <p:cNvPr id="4" name="首先"/>
          <p:cNvSpPr txBox="1"/>
          <p:nvPr/>
        </p:nvSpPr>
        <p:spPr>
          <a:xfrm>
            <a:off x="533400" y="2305050"/>
            <a:ext cx="2362200" cy="1066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000" b="0">
                <a:solidFill>
                  <a:srgbClr val="FFFFFF"/>
                </a:solidFill>
                <a:latin typeface="Microsoft YaHei"/>
                <a:ea typeface="Microsoft YaHei"/>
              </a:rPr>
              <a:t>首先</a:t>
            </a:r>
          </a:p>
        </p:txBody>
      </p:sp>
      <p:sp>
        <p:nvSpPr>
          <p:cNvPr id="5" name="与上一动画同时"/>
          <p:cNvSpPr txBox="1"/>
          <p:nvPr/>
        </p:nvSpPr>
        <p:spPr>
          <a:xfrm>
            <a:off x="3390900" y="2305050"/>
            <a:ext cx="2362200" cy="1066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000" b="0">
                <a:solidFill>
                  <a:srgbClr val="FFFFFF"/>
                </a:solidFill>
                <a:latin typeface="Microsoft YaHei"/>
                <a:ea typeface="Microsoft YaHei"/>
              </a:rPr>
              <a:t>与上一动画同时</a:t>
            </a:r>
          </a:p>
        </p:txBody>
      </p:sp>
      <p:sp>
        <p:nvSpPr>
          <p:cNvPr id="6" name="上一动画之后"/>
          <p:cNvSpPr txBox="1"/>
          <p:nvPr/>
        </p:nvSpPr>
        <p:spPr>
          <a:xfrm>
            <a:off x="6248400" y="2305050"/>
            <a:ext cx="2362200" cy="1066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000" b="0">
                <a:solidFill>
                  <a:srgbClr val="FFFFFF"/>
                </a:solidFill>
                <a:latin typeface="Microsoft YaHei"/>
                <a:ea typeface="Microsoft YaHei"/>
              </a:rPr>
              <a:t>上一动画之后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18" presetID="10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9" dur="15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23" presetClass="entr" presetSubtype="8" fill="hold" nodeType="withEffect">
                            <p:stCondLst>
                              <p:cond delay="150"/>
                            </p:stCondLst>
                            <p:childTnLst>
                              <p:animScale>
                                <p:cBhvr>
                                  <p:cTn id="21" dur="1500" fill="hold"/>
                                  <p:tgtEl>
                                    <p:spTgt spid="5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  <p:par>
                          <p:cTn id="22" presetID="2" presetClass="entr" presetSubtype="8" fill="hold" nodeType="afterEffect">
                            <p:stCondLst>
                              <p:cond delay="300"/>
                            </p:stCondLst>
                            <p:childTnLst>
                              <p:anim calcmode="lin" valueType="num">
                                <p:cBhvr>
                                  <p:cTn id="23" dur="1000" fill="hold"/>
                                  <p:tgtEl>
                                    <p:spTgt spid="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1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3 · 强调与运动路径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03 · 强调与运动路径</a:t>
            </a:r>
          </a:p>
        </p:txBody>
      </p:sp>
      <p:sp>
        <p:nvSpPr>
          <p:cNvPr id="3" name="预期：依次旋转一周、放大后回到原尺寸、沿路径移动。可在过程中暂停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预期：依次旋转一周、放大后回到原尺寸、沿路径移动。可在过程中暂停。</a:t>
            </a:r>
          </a:p>
        </p:txBody>
      </p:sp>
      <p:sp>
        <p:nvSpPr>
          <p:cNvPr id="4" name="旋转 360°"/>
          <p:cNvSpPr txBox="1"/>
          <p:nvPr/>
        </p:nvSpPr>
        <p:spPr>
          <a:xfrm>
            <a:off x="666750" y="2238375"/>
            <a:ext cx="1952625" cy="7143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旋转 360°</a:t>
            </a:r>
          </a:p>
        </p:txBody>
      </p:sp>
      <p:sp>
        <p:nvSpPr>
          <p:cNvPr id="5" name="缩放并还原"/>
          <p:cNvSpPr txBox="1"/>
          <p:nvPr/>
        </p:nvSpPr>
        <p:spPr>
          <a:xfrm>
            <a:off x="3381375" y="2238375"/>
            <a:ext cx="1952625" cy="7143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缩放并还原</a:t>
            </a:r>
          </a:p>
        </p:txBody>
      </p:sp>
      <p:sp>
        <p:nvSpPr>
          <p:cNvPr id="6" name="路径移动"/>
          <p:cNvSpPr txBox="1"/>
          <p:nvPr/>
        </p:nvSpPr>
        <p:spPr>
          <a:xfrm>
            <a:off x="5905500" y="2238375"/>
            <a:ext cx="1428750" cy="714375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000" b="0">
                <a:solidFill>
                  <a:srgbClr val="FFFFFF"/>
                </a:solidFill>
                <a:latin typeface="Microsoft YaHei"/>
                <a:ea typeface="Microsoft YaHei"/>
              </a:rPr>
              <a:t>路径移动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24" presetID="8" presetClass="emph" presetSubtype="8" fill="hold" nodeType="clickEffect">
                            <p:stCondLst>
                              <p:cond delay="0"/>
                            </p:stCondLst>
                            <p:childTnLst>
                              <p:animRot by="21600000">
                                <p:cBhvr>
                                  <p:cTn id="25" dur="1800" fill="hold"/>
                                  <p:tgtEl>
                                    <p:spTgt spid="4"/>
                                  </p:tgtEl>
                                </p:cBhvr>
                              </p:animRot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26" presetID="23" presetClass="emph" presetSubtype="8" fill="hold" nodeType="clickEffect" autoRev="1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27" dur="900" fill="hold"/>
                                  <p:tgtEl>
                                    <p:spTgt spid="5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28" presetID="0" presetClass="path" presetSubtype="8" fill="hold" nodeType="clickEffect">
                            <p:stCondLst>
                              <p:cond delay="0"/>
                            </p:stCondLst>
                            <p:childTnLst>
                              <p:animMotion origin="layout" path="M 0 0 L .06 -.08 C .08 -.12 .11 .08 .15 0 E" pathEditMode="relative">
                                <p:cBhvr>
                                  <p:cTn id="29" dur="1800" fill="hold"/>
                                  <p:tgtEl>
                                    <p:spTgt spid="6"/>
                                  </p:tgtEl>
                                </p:cBhvr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4 · 三种退场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04 · 三种退场</a:t>
            </a:r>
          </a:p>
        </p:txBody>
      </p:sp>
      <p:sp>
        <p:nvSpPr>
          <p:cNvPr id="3" name="预期：三个对象最初可见；点击后依次淡出、缩小、擦除。重播应还原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预期：三个对象最初可见；点击后依次淡出、缩小、擦除。重播应还原。</a:t>
            </a:r>
          </a:p>
        </p:txBody>
      </p:sp>
      <p:sp>
        <p:nvSpPr>
          <p:cNvPr id="4" name="淡出"/>
          <p:cNvSpPr txBox="1"/>
          <p:nvPr/>
        </p:nvSpPr>
        <p:spPr>
          <a:xfrm>
            <a:off x="533400" y="2305050"/>
            <a:ext cx="2362200" cy="1066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淡出</a:t>
            </a:r>
          </a:p>
        </p:txBody>
      </p:sp>
      <p:sp>
        <p:nvSpPr>
          <p:cNvPr id="5" name="缩小退场"/>
          <p:cNvSpPr txBox="1"/>
          <p:nvPr/>
        </p:nvSpPr>
        <p:spPr>
          <a:xfrm>
            <a:off x="3390900" y="2305050"/>
            <a:ext cx="2362200" cy="1066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缩小退场</a:t>
            </a:r>
          </a:p>
        </p:txBody>
      </p:sp>
      <p:sp>
        <p:nvSpPr>
          <p:cNvPr id="6" name="擦除退场"/>
          <p:cNvSpPr txBox="1"/>
          <p:nvPr/>
        </p:nvSpPr>
        <p:spPr>
          <a:xfrm>
            <a:off x="6248400" y="2305050"/>
            <a:ext cx="2362200" cy="1066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2200" b="0">
                <a:solidFill>
                  <a:srgbClr val="FFFFFF"/>
                </a:solidFill>
                <a:latin typeface="Microsoft YaHei"/>
                <a:ea typeface="Microsoft YaHei"/>
              </a:rPr>
              <a:t>擦除退场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30" presetID="10" presetClass="exit" presetSubtype="8" fill="hold" nodeType="clickEffect">
                            <p:stCondLst>
                              <p:cond delay="0"/>
                            </p:stCondLst>
                            <p:childTnLst>
                              <p:animEffect transition="out" filter="fade">
                                <p:cBhvr>
                                  <p:cTn id="31" dur="8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32" presetID="23" presetClass="exit" presetSubtype="8" fill="hold" nodeType="clickEffect">
                            <p:stCondLst>
                              <p:cond delay="0"/>
                            </p:stCondLst>
                            <p:childTnLst>
                              <p:animScale>
                                <p:cBhvr>
                                  <p:cTn id="33" dur="800" fill="hold"/>
                                  <p:tgtEl>
                                    <p:spTgt spid="5"/>
                                  </p:tgtEl>
                                </p:cBhvr>
                                <p:by x="150000" y="150000"/>
                              </p:animScale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34" presetID="22" presetClass="exit" presetSubtype="8" fill="hold" nodeType="clickEffect">
                            <p:stCondLst>
                              <p:cond delay="0"/>
                            </p:stCondLst>
                            <p:childTnLst>
                              <p:animEffect transition="out" filter="wipe(right)">
                                <p:cBhvr>
                                  <p:cTn id="35" dur="8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5 · 图片与原生图表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05 · 图片与原生图表</a:t>
            </a:r>
          </a:p>
        </p:txBody>
      </p:sp>
      <p:sp>
        <p:nvSpPr>
          <p:cNvPr id="3" name="预期：第一次点击显示渐变图片，第二次显示 20 / 40 / 30 的柱状图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预期：第一次点击显示渐变图片，第二次显示 20 / 40 / 30 的柱状图。</a:t>
            </a:r>
          </a:p>
        </p:txBody>
      </p:sp>
      <p:pic>
        <p:nvPicPr>
          <p:cNvPr id="4" name="内嵌渐变图片"/>
          <p:cNvPicPr/>
          <p:nvPr/>
        </p:nvPicPr>
        <p:blipFill>
          <a:blip r:embed="image"/>
          <a:stretch>
            <a:fillRect/>
          </a:stretch>
        </p:blipFill>
        <p:spPr>
          <a:xfrm>
            <a:off x="533400" y="1952625"/>
            <a:ext cx="3048000" cy="1714500"/>
          </a:xfrm>
          <a:prstGeom prst="rect">
            <a:avLst/>
          </a:prstGeom>
        </p:spPr>
      </p:pic>
      <p:graphicFrame>
        <p:nvGraphicFramePr>
          <p:cNvPr id="5" name="柱状图"/>
          <p:cNvGraphicFramePr/>
          <p:nvPr/>
        </p:nvGraphicFramePr>
        <p:xfrm>
          <a:off x="4095750" y="1762125"/>
          <a:ext cx="4286250" cy="2667000"/>
        </p:xfrm>
        <a:graphic>
          <a:graphicData uri="http://schemas.openxmlformats.org/drawingml/2006/chart">
            <c:chart xmlns:c="http://schemas.openxmlformats.org/drawingml/2006/chart" r:id="chart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36" presetID="10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7" dur="8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38" presetID="10" presetClass="entr" presetSubtype="8" fill="hold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39" dur="8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6 · 页间淡化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06 · 页间淡化</a:t>
            </a:r>
          </a:p>
        </p:txBody>
      </p:sp>
      <p:sp>
        <p:nvSpPr>
          <p:cNvPr id="3" name="预期：进入此页时播放淡化切换；翻页、缩放后正文应保持完整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预期：进入此页时播放淡化切换；翻页、缩放后正文应保持完整。</a:t>
            </a:r>
          </a:p>
        </p:txBody>
      </p:sp>
      <p:sp>
        <p:nvSpPr>
          <p:cNvPr id="4" name="中文 / English / 12345"/>
          <p:cNvSpPr txBox="1"/>
          <p:nvPr/>
        </p:nvSpPr>
        <p:spPr>
          <a:xfrm>
            <a:off x="762000" y="2095500"/>
            <a:ext cx="7620000" cy="123825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800" b="1">
                <a:solidFill>
                  <a:srgbClr val="172554"/>
                </a:solidFill>
                <a:latin typeface="Microsoft YaHei"/>
                <a:ea typeface="Microsoft YaHei"/>
              </a:rPr>
              <a:t>中文 / English / 12345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7 · 页间推入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07 · 页间推入</a:t>
            </a:r>
          </a:p>
        </p:txBody>
      </p:sp>
      <p:sp>
        <p:nvSpPr>
          <p:cNvPr id="3" name="预期：进入此页时播放推入切换；翻页、缩放后正文应保持完整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预期：进入此页时播放推入切换；翻页、缩放后正文应保持完整。</a:t>
            </a:r>
          </a:p>
        </p:txBody>
      </p:sp>
      <p:sp>
        <p:nvSpPr>
          <p:cNvPr id="4" name="中文 / English / 12345"/>
          <p:cNvSpPr txBox="1"/>
          <p:nvPr/>
        </p:nvSpPr>
        <p:spPr>
          <a:xfrm>
            <a:off x="762000" y="2095500"/>
            <a:ext cx="7620000" cy="123825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800" b="1">
                <a:solidFill>
                  <a:srgbClr val="172554"/>
                </a:solidFill>
                <a:latin typeface="Microsoft YaHei"/>
                <a:ea typeface="Microsoft YaHei"/>
              </a:rPr>
              <a:t>中文 / English / 12345</a:t>
            </a:r>
          </a:p>
        </p:txBody>
      </p:sp>
    </p:spTree>
  </p:cSld>
  <p:clrMapOvr>
    <a:masterClrMapping/>
  </p:clrMapOvr>
  <p:transition spd="slow">
    <p:push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8 · 页间擦除"/>
          <p:cNvSpPr txBox="1"/>
          <p:nvPr/>
        </p:nvSpPr>
        <p:spPr>
          <a:xfrm>
            <a:off x="419100" y="247650"/>
            <a:ext cx="8305800" cy="6858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200" b="1">
                <a:solidFill>
                  <a:srgbClr val="172554"/>
                </a:solidFill>
                <a:latin typeface="Microsoft YaHei"/>
                <a:ea typeface="Microsoft YaHei"/>
              </a:rPr>
              <a:t>08 · 页间擦除</a:t>
            </a:r>
          </a:p>
        </p:txBody>
      </p:sp>
      <p:sp>
        <p:nvSpPr>
          <p:cNvPr id="3" name="预期：进入此页时播放擦除切换；翻页、缩放后正文应保持完整。"/>
          <p:cNvSpPr txBox="1"/>
          <p:nvPr/>
        </p:nvSpPr>
        <p:spPr>
          <a:xfrm>
            <a:off x="419100" y="971550"/>
            <a:ext cx="8305800" cy="72390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1700" b="0">
                <a:solidFill>
                  <a:srgbClr val="172554"/>
                </a:solidFill>
                <a:latin typeface="Microsoft YaHei"/>
                <a:ea typeface="Microsoft YaHei"/>
              </a:rPr>
              <a:t>预期：进入此页时播放擦除切换；翻页、缩放后正文应保持完整。</a:t>
            </a:r>
          </a:p>
        </p:txBody>
      </p:sp>
      <p:sp>
        <p:nvSpPr>
          <p:cNvPr id="4" name="验收完成 可返回任意页面重播"/>
          <p:cNvSpPr txBox="1"/>
          <p:nvPr/>
        </p:nvSpPr>
        <p:spPr>
          <a:xfrm>
            <a:off x="762000" y="2095500"/>
            <a:ext cx="7620000" cy="1238250"/>
          </a:xfrm>
          <a:prstGeom prst="rect">
            <a:avLst/>
          </a:prstGeom>
          <a:noFill/>
          <a:ln>
            <a:noFill/>
          </a:ln>
        </p:spPr>
        <p:txBody>
          <a:bodyPr lIns="114300" rIns="114300" tIns="85725" bIns="85725" anchor="ctr"/>
          <a:lstStyle/>
          <a:p>
            <a:r>
              <a:rPr lang="zh-CN" sz="3800" b="1">
                <a:solidFill>
                  <a:srgbClr val="172554"/>
                </a:solidFill>
                <a:latin typeface="Microsoft YaHei"/>
                <a:ea typeface="Microsoft YaHei"/>
              </a:rPr>
              <a:t>验收完成</a:t>
            </a:r>
          </a:p>
          <a:p>
            <a:r>
              <a:rPr lang="zh-CN" sz="3800" b="1">
                <a:solidFill>
                  <a:srgbClr val="172554"/>
                </a:solidFill>
                <a:latin typeface="Microsoft YaHei"/>
                <a:ea typeface="Microsoft YaHei"/>
              </a:rPr>
              <a:t>可返回任意页面重播</a:t>
            </a:r>
          </a:p>
        </p:txBody>
      </p:sp>
    </p:spTree>
  </p:cSld>
  <p:clrMapOvr>
    <a:masterClrMapping/>
  </p:clrMapOvr>
  <p:transition spd="slow">
    <p:wipe dir="r"/>
  </p:transition>
</p:sld>
</file>